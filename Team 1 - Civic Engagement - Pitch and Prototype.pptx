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  <p:sldMasterId id="2147483679" r:id="rId6"/>
  </p:sldMasterIdLst>
  <p:notesMasterIdLst>
    <p:notesMasterId r:id="rId7"/>
  </p:notesMasterIdLst>
  <p:sldIdLst>
    <p:sldId id="256" r:id="rId8"/>
    <p:sldId id="257" r:id="rId9"/>
    <p:sldId id="258" r:id="rId10"/>
  </p:sldIdLst>
  <p:sldSz cy="5143500" cx="9144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3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d26f58146f2347f_21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h7d26f58146f2347f_21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7d26f58146f2347f_21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d26f58146f234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7d26f58146f234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225a5bb9f25b66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225a5bb9f25b66b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">
    <p:bg>
      <p:bgPr>
        <a:solidFill>
          <a:srgbClr val="F5F3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750540"/>
            <a:ext cx="7924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30"/>
              </a:buClr>
              <a:buSzPts val="2400"/>
              <a:buFont typeface="Inter"/>
              <a:buNone/>
              <a:defRPr sz="2400">
                <a:solidFill>
                  <a:srgbClr val="1D213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320503"/>
            <a:ext cx="7924800" cy="3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D2130"/>
              </a:buClr>
              <a:buSzPts val="1200"/>
              <a:buNone/>
              <a:defRPr sz="1200">
                <a:solidFill>
                  <a:srgbClr val="1D213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4" name="Google Shape;84;p19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0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8"/>
          <p:cNvSpPr txBox="1"/>
          <p:nvPr>
            <p:ph idx="1" type="subTitle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i="0" sz="3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None/>
              <a:defRPr b="1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i="0" sz="24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5788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788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788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5788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5788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788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5788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5788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5788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i="0" sz="24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8613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8613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8613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8613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8613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8613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8613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8613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8613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2" type="body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8613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8613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8613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8613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8613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8613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8613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8613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8613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i="0" sz="24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Arial"/>
              <a:buNone/>
              <a:defRPr b="1"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5788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788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788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5788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5788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788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5788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5788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5788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88"/>
              <a:buFont typeface="Arial"/>
              <a:buChar char="•"/>
              <a:defRPr b="0" i="0" sz="16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3civ3WyAcByWovUh2s_Ifhd4XZe4wJho/view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/>
          <p:nvPr/>
        </p:nvSpPr>
        <p:spPr>
          <a:xfrm>
            <a:off x="357188" y="214313"/>
            <a:ext cx="5000625" cy="17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51" name="Google Shape;151;p33"/>
          <p:cNvSpPr/>
          <p:nvPr/>
        </p:nvSpPr>
        <p:spPr>
          <a:xfrm>
            <a:off x="357188" y="514350"/>
            <a:ext cx="8358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8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Local politics can feel like an insiders’ conversation</a:t>
            </a:r>
            <a:endParaRPr/>
          </a:p>
        </p:txBody>
      </p:sp>
      <p:sp>
        <p:nvSpPr>
          <p:cNvPr id="152" name="Google Shape;152;p33"/>
          <p:cNvSpPr/>
          <p:nvPr/>
        </p:nvSpPr>
        <p:spPr>
          <a:xfrm>
            <a:off x="357188" y="992981"/>
            <a:ext cx="8286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Newcomers </a:t>
            </a:r>
            <a:r>
              <a:rPr lang="en" sz="1350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often</a:t>
            </a:r>
            <a:r>
              <a:rPr b="0" lang="en" sz="1350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disengage before they feel informed or welcome enough to participate.</a:t>
            </a:r>
            <a:endParaRPr/>
          </a:p>
        </p:txBody>
      </p:sp>
      <p:sp>
        <p:nvSpPr>
          <p:cNvPr id="153" name="Google Shape;153;p33"/>
          <p:cNvSpPr/>
          <p:nvPr/>
        </p:nvSpPr>
        <p:spPr>
          <a:xfrm>
            <a:off x="444775" y="1448975"/>
            <a:ext cx="3989700" cy="8064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3"/>
          <p:cNvSpPr/>
          <p:nvPr/>
        </p:nvSpPr>
        <p:spPr>
          <a:xfrm>
            <a:off x="444775" y="1448975"/>
            <a:ext cx="33000" cy="806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3"/>
          <p:cNvSpPr/>
          <p:nvPr/>
        </p:nvSpPr>
        <p:spPr>
          <a:xfrm>
            <a:off x="444775" y="2349001"/>
            <a:ext cx="3989700" cy="8064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3"/>
          <p:cNvSpPr/>
          <p:nvPr/>
        </p:nvSpPr>
        <p:spPr>
          <a:xfrm>
            <a:off x="444775" y="2349001"/>
            <a:ext cx="33000" cy="806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3"/>
          <p:cNvSpPr/>
          <p:nvPr/>
        </p:nvSpPr>
        <p:spPr>
          <a:xfrm>
            <a:off x="444775" y="3249026"/>
            <a:ext cx="3989700" cy="8064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3"/>
          <p:cNvSpPr/>
          <p:nvPr/>
        </p:nvSpPr>
        <p:spPr>
          <a:xfrm>
            <a:off x="444775" y="3249026"/>
            <a:ext cx="33000" cy="806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110275" lIns="110275" spcFirstLastPara="1" rIns="110275" wrap="square" tIns="1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3"/>
          <p:cNvSpPr/>
          <p:nvPr/>
        </p:nvSpPr>
        <p:spPr>
          <a:xfrm>
            <a:off x="576397" y="1505226"/>
            <a:ext cx="3537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Knowledge</a:t>
            </a:r>
            <a:endParaRPr/>
          </a:p>
        </p:txBody>
      </p:sp>
      <p:sp>
        <p:nvSpPr>
          <p:cNvPr id="160" name="Google Shape;160;p33"/>
          <p:cNvSpPr/>
          <p:nvPr/>
        </p:nvSpPr>
        <p:spPr>
          <a:xfrm>
            <a:off x="576397" y="1823986"/>
            <a:ext cx="3784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I don’t</a:t>
            </a:r>
            <a:r>
              <a:rPr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know</a:t>
            </a:r>
            <a:r>
              <a:rPr b="0"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what’s happening or how to ge</a:t>
            </a:r>
            <a:r>
              <a:rPr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t involved</a:t>
            </a:r>
            <a:endParaRPr/>
          </a:p>
        </p:txBody>
      </p:sp>
      <p:sp>
        <p:nvSpPr>
          <p:cNvPr id="161" name="Google Shape;161;p33"/>
          <p:cNvSpPr/>
          <p:nvPr/>
        </p:nvSpPr>
        <p:spPr>
          <a:xfrm>
            <a:off x="576397" y="2405251"/>
            <a:ext cx="3537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Belonging</a:t>
            </a:r>
            <a:endParaRPr/>
          </a:p>
        </p:txBody>
      </p:sp>
      <p:sp>
        <p:nvSpPr>
          <p:cNvPr id="162" name="Google Shape;162;p33"/>
          <p:cNvSpPr/>
          <p:nvPr/>
        </p:nvSpPr>
        <p:spPr>
          <a:xfrm>
            <a:off x="576397" y="2724011"/>
            <a:ext cx="3784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This conversation isn’t for me</a:t>
            </a:r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576397" y="3305277"/>
            <a:ext cx="3537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Confidence</a:t>
            </a:r>
            <a:endParaRPr/>
          </a:p>
        </p:txBody>
      </p:sp>
      <p:sp>
        <p:nvSpPr>
          <p:cNvPr id="164" name="Google Shape;164;p33"/>
          <p:cNvSpPr/>
          <p:nvPr/>
        </p:nvSpPr>
        <p:spPr>
          <a:xfrm>
            <a:off x="576397" y="3624036"/>
            <a:ext cx="3784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125" lIns="110275" spcFirstLastPara="1" rIns="110275" wrap="square" tIns="55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I don’t know enough to contribute</a:t>
            </a:r>
            <a:endParaRPr/>
          </a:p>
        </p:txBody>
      </p:sp>
      <p:sp>
        <p:nvSpPr>
          <p:cNvPr id="165" name="Google Shape;165;p33"/>
          <p:cNvSpPr/>
          <p:nvPr/>
        </p:nvSpPr>
        <p:spPr>
          <a:xfrm>
            <a:off x="4459231" y="1614125"/>
            <a:ext cx="2928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69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NYC residents</a:t>
            </a: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4637825" y="1939157"/>
            <a:ext cx="2571750" cy="421481"/>
          </a:xfrm>
          <a:custGeom>
            <a:rect b="b" l="l" r="r" t="t"/>
            <a:pathLst>
              <a:path extrusionOk="0" h="561975" w="3429000">
                <a:moveTo>
                  <a:pt x="0" y="0"/>
                </a:moveTo>
                <a:lnTo>
                  <a:pt x="3429000" y="0"/>
                </a:lnTo>
                <a:lnTo>
                  <a:pt x="3133725" y="561975"/>
                </a:lnTo>
                <a:lnTo>
                  <a:pt x="295275" y="561975"/>
                </a:lnTo>
                <a:close/>
              </a:path>
            </a:pathLst>
          </a:custGeom>
          <a:solidFill>
            <a:srgbClr val="C2410C"/>
          </a:solidFill>
          <a:ln>
            <a:noFill/>
          </a:ln>
        </p:spPr>
      </p:sp>
      <p:sp>
        <p:nvSpPr>
          <p:cNvPr id="167" name="Google Shape;167;p33"/>
          <p:cNvSpPr/>
          <p:nvPr/>
        </p:nvSpPr>
        <p:spPr>
          <a:xfrm>
            <a:off x="4709263" y="2010594"/>
            <a:ext cx="2428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Awareness &amp; belonging</a:t>
            </a:r>
            <a:endParaRPr/>
          </a:p>
        </p:txBody>
      </p:sp>
      <p:sp>
        <p:nvSpPr>
          <p:cNvPr id="168" name="Google Shape;168;p33"/>
          <p:cNvSpPr/>
          <p:nvPr/>
        </p:nvSpPr>
        <p:spPr>
          <a:xfrm>
            <a:off x="4887856" y="2417788"/>
            <a:ext cx="2071688" cy="421481"/>
          </a:xfrm>
          <a:custGeom>
            <a:rect b="b" l="l" r="r" t="t"/>
            <a:pathLst>
              <a:path extrusionOk="0" h="561975" w="2762250">
                <a:moveTo>
                  <a:pt x="0" y="0"/>
                </a:moveTo>
                <a:lnTo>
                  <a:pt x="2762250" y="0"/>
                </a:lnTo>
                <a:lnTo>
                  <a:pt x="2466975" y="561975"/>
                </a:lnTo>
                <a:lnTo>
                  <a:pt x="295275" y="561975"/>
                </a:lnTo>
                <a:close/>
              </a:path>
            </a:pathLst>
          </a:custGeom>
          <a:solidFill>
            <a:srgbClr val="C04828"/>
          </a:solidFill>
          <a:ln>
            <a:noFill/>
          </a:ln>
        </p:spPr>
      </p:sp>
      <p:sp>
        <p:nvSpPr>
          <p:cNvPr id="169" name="Google Shape;169;p33"/>
          <p:cNvSpPr/>
          <p:nvPr/>
        </p:nvSpPr>
        <p:spPr>
          <a:xfrm>
            <a:off x="4959294" y="2489226"/>
            <a:ext cx="1928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Interest &amp; confidence</a:t>
            </a:r>
            <a:endParaRPr sz="106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5137888" y="2896419"/>
            <a:ext cx="1571625" cy="421481"/>
          </a:xfrm>
          <a:custGeom>
            <a:rect b="b" l="l" r="r" t="t"/>
            <a:pathLst>
              <a:path extrusionOk="0" h="561975" w="2095500">
                <a:moveTo>
                  <a:pt x="0" y="0"/>
                </a:moveTo>
                <a:lnTo>
                  <a:pt x="2095500" y="0"/>
                </a:lnTo>
                <a:lnTo>
                  <a:pt x="1800225" y="561975"/>
                </a:lnTo>
                <a:lnTo>
                  <a:pt x="295275" y="561975"/>
                </a:lnTo>
                <a:close/>
              </a:path>
            </a:pathLst>
          </a:custGeom>
          <a:solidFill>
            <a:srgbClr val="E7E2D8"/>
          </a:solidFill>
          <a:ln>
            <a:noFill/>
          </a:ln>
        </p:spPr>
      </p:sp>
      <p:sp>
        <p:nvSpPr>
          <p:cNvPr id="171" name="Google Shape;171;p33"/>
          <p:cNvSpPr/>
          <p:nvPr/>
        </p:nvSpPr>
        <p:spPr>
          <a:xfrm>
            <a:off x="5209325" y="2967857"/>
            <a:ext cx="1428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69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Participation</a:t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5387919" y="3375050"/>
            <a:ext cx="1071563" cy="421481"/>
          </a:xfrm>
          <a:custGeom>
            <a:rect b="b" l="l" r="r" t="t"/>
            <a:pathLst>
              <a:path extrusionOk="0" h="561975" w="1428750">
                <a:moveTo>
                  <a:pt x="0" y="0"/>
                </a:moveTo>
                <a:lnTo>
                  <a:pt x="1428750" y="0"/>
                </a:lnTo>
                <a:lnTo>
                  <a:pt x="1133475" y="561975"/>
                </a:lnTo>
                <a:lnTo>
                  <a:pt x="295275" y="561975"/>
                </a:lnTo>
                <a:close/>
              </a:path>
            </a:pathLst>
          </a:custGeom>
          <a:solidFill>
            <a:srgbClr val="E7E2D8"/>
          </a:solidFill>
          <a:ln>
            <a:noFill/>
          </a:ln>
        </p:spPr>
      </p:sp>
      <p:sp>
        <p:nvSpPr>
          <p:cNvPr id="173" name="Google Shape;173;p33"/>
          <p:cNvSpPr/>
          <p:nvPr/>
        </p:nvSpPr>
        <p:spPr>
          <a:xfrm>
            <a:off x="5459356" y="3446488"/>
            <a:ext cx="928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44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Ongoing engagement</a:t>
            </a:r>
            <a:endParaRPr/>
          </a:p>
        </p:txBody>
      </p:sp>
      <p:sp>
        <p:nvSpPr>
          <p:cNvPr id="174" name="Google Shape;174;p33"/>
          <p:cNvSpPr/>
          <p:nvPr/>
        </p:nvSpPr>
        <p:spPr>
          <a:xfrm>
            <a:off x="7570700" y="1964169"/>
            <a:ext cx="1464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4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StoopReport</a:t>
            </a:r>
            <a:endParaRPr/>
          </a:p>
        </p:txBody>
      </p:sp>
      <p:sp>
        <p:nvSpPr>
          <p:cNvPr id="175" name="Google Shape;175;p33"/>
          <p:cNvSpPr/>
          <p:nvPr/>
        </p:nvSpPr>
        <p:spPr>
          <a:xfrm>
            <a:off x="7570700" y="2391376"/>
            <a:ext cx="1500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Make civic 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welcoming and accessible</a:t>
            </a:r>
            <a:r>
              <a:rPr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so that</a:t>
            </a:r>
            <a:r>
              <a:rPr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people can actually move down the funnel and </a:t>
            </a:r>
            <a:r>
              <a:rPr lang="en" sz="1013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become active members of their community</a:t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357175" y="4168263"/>
            <a:ext cx="8429700" cy="14400"/>
          </a:xfrm>
          <a:prstGeom prst="rect">
            <a:avLst/>
          </a:prstGeom>
          <a:solidFill>
            <a:srgbClr val="E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357176" y="4303994"/>
            <a:ext cx="15003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41.6%</a:t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1964518" y="4318281"/>
            <a:ext cx="6786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38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of registered voters participated in NYC’s 2025 general election,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38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despite the highest city-election turnout in over 50 years.</a:t>
            </a:r>
            <a:endParaRPr/>
          </a:p>
        </p:txBody>
      </p:sp>
      <p:sp>
        <p:nvSpPr>
          <p:cNvPr id="179" name="Google Shape;179;p33"/>
          <p:cNvSpPr/>
          <p:nvPr/>
        </p:nvSpPr>
        <p:spPr>
          <a:xfrm>
            <a:off x="357175" y="4918356"/>
            <a:ext cx="8429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75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Source: NYC Votes, 2025 Voter Analysis Report. Turnout provides context; it does not establish causes of disengagement.</a:t>
            </a:r>
            <a:endParaRPr/>
          </a:p>
        </p:txBody>
      </p:sp>
      <p:cxnSp>
        <p:nvCxnSpPr>
          <p:cNvPr id="180" name="Google Shape;180;p33"/>
          <p:cNvCxnSpPr>
            <a:stCxn id="174" idx="1"/>
          </p:cNvCxnSpPr>
          <p:nvPr/>
        </p:nvCxnSpPr>
        <p:spPr>
          <a:xfrm flipH="1">
            <a:off x="7160300" y="2196369"/>
            <a:ext cx="410400" cy="17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46400" y="759775"/>
            <a:ext cx="8088000" cy="36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People who moved to the city often end up disengaged as local politics can feel like an insider’s conversation.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The </a:t>
            </a:r>
            <a:r>
              <a:rPr b="1" lang="en" sz="1500"/>
              <a:t>Stoop Report </a:t>
            </a:r>
            <a:r>
              <a:rPr lang="en" sz="1500"/>
              <a:t>is a comedy content program on social media platforms people already are using (YouTube, TikTok, Instagram) that aims </a:t>
            </a:r>
            <a:r>
              <a:rPr lang="en" sz="1500"/>
              <a:t>to</a:t>
            </a:r>
            <a:r>
              <a:rPr lang="en" sz="1500"/>
              <a:t> help people stay up to date with local politics in a fun and low-stakes way.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By using comedy, we lower the barrier for engagement and invite them </a:t>
            </a:r>
            <a:r>
              <a:rPr i="1" lang="en" sz="1500"/>
              <a:t>in</a:t>
            </a:r>
            <a:r>
              <a:rPr lang="en" sz="1500"/>
              <a:t> to the conversation by making local politics feel more welcoming and accessible. </a:t>
            </a:r>
            <a:r>
              <a:rPr lang="en" sz="1500"/>
              <a:t>Ultimately, knowing what’s happening is the first foundational step toward getting involved and having a voice in your community.</a:t>
            </a:r>
            <a:endParaRPr sz="1500"/>
          </a:p>
        </p:txBody>
      </p:sp>
      <p:sp>
        <p:nvSpPr>
          <p:cNvPr id="186" name="Google Shape;186;p34"/>
          <p:cNvSpPr/>
          <p:nvPr/>
        </p:nvSpPr>
        <p:spPr>
          <a:xfrm>
            <a:off x="357188" y="214313"/>
            <a:ext cx="5000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Pitch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/>
        </p:nvSpPr>
        <p:spPr>
          <a:xfrm>
            <a:off x="457200" y="314325"/>
            <a:ext cx="868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sz="1100"/>
          </a:p>
        </p:txBody>
      </p:sp>
      <p:sp>
        <p:nvSpPr>
          <p:cNvPr id="192" name="Google Shape;192;p35"/>
          <p:cNvSpPr txBox="1"/>
          <p:nvPr/>
        </p:nvSpPr>
        <p:spPr>
          <a:xfrm>
            <a:off x="457200" y="492919"/>
            <a:ext cx="86868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The Stoop Report </a:t>
            </a:r>
            <a:r>
              <a:rPr lang="en" sz="19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- a local civic news comedy channel to update </a:t>
            </a:r>
            <a:r>
              <a:rPr lang="en" sz="19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citizens on what is happening and how to get involved </a:t>
            </a:r>
            <a:endParaRPr sz="1900">
              <a:solidFill>
                <a:srgbClr val="C241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5"/>
          <p:cNvSpPr txBox="1"/>
          <p:nvPr/>
        </p:nvSpPr>
        <p:spPr>
          <a:xfrm>
            <a:off x="5692200" y="1561450"/>
            <a:ext cx="3170700" cy="28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Strengths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Ease of access on known social media platform lowers the bar in finding neighborhood politics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Comedy &amp; skits brings younger audiences into the loop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Weaknesses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Relies highly on the social media managers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4" name="Google Shape;194;p35" title="TheStoopReport_YouTube_demo_30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2438" y="1445050"/>
            <a:ext cx="1899126" cy="337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350" y="1445050"/>
            <a:ext cx="3278971" cy="33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5"/>
          <p:cNvSpPr txBox="1"/>
          <p:nvPr/>
        </p:nvSpPr>
        <p:spPr>
          <a:xfrm>
            <a:off x="1086425" y="1168550"/>
            <a:ext cx="15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Screenshots of Channel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3783600" y="1168550"/>
            <a:ext cx="15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Shorts/Reel Video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